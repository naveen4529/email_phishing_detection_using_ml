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5" r:id="rId3"/>
    <p:sldId id="281" r:id="rId4"/>
    <p:sldId id="257" r:id="rId5"/>
    <p:sldId id="260" r:id="rId6"/>
    <p:sldId id="261" r:id="rId7"/>
    <p:sldId id="262" r:id="rId8"/>
    <p:sldId id="263" r:id="rId9"/>
    <p:sldId id="267" r:id="rId10"/>
    <p:sldId id="268" r:id="rId11"/>
    <p:sldId id="266" r:id="rId12"/>
    <p:sldId id="264" r:id="rId13"/>
    <p:sldId id="265" r:id="rId14"/>
    <p:sldId id="271" r:id="rId15"/>
    <p:sldId id="284" r:id="rId16"/>
    <p:sldId id="283" r:id="rId17"/>
    <p:sldId id="285" r:id="rId18"/>
    <p:sldId id="269" r:id="rId19"/>
    <p:sldId id="270" r:id="rId20"/>
    <p:sldId id="28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6" autoAdjust="0"/>
    <p:restoredTop sz="94660"/>
  </p:normalViewPr>
  <p:slideViewPr>
    <p:cSldViewPr snapToGrid="0" snapToObjects="1">
      <p:cViewPr varScale="1">
        <p:scale>
          <a:sx n="76" d="100"/>
          <a:sy n="76" d="100"/>
        </p:scale>
        <p:origin x="1579"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65518"/>
            <a:ext cx="8229600" cy="4571682"/>
          </a:xfrm>
        </p:spPr>
        <p:txBody>
          <a:bodyPr>
            <a:noAutofit/>
          </a:bodyPr>
          <a:lstStyle/>
          <a:p>
            <a:r>
              <a:rPr dirty="0"/>
              <a:t>Efficient Email Phishing </a:t>
            </a:r>
            <a:br>
              <a:rPr lang="en-IN" dirty="0"/>
            </a:br>
            <a:r>
              <a:rPr dirty="0"/>
              <a:t>Detection Using Machine </a:t>
            </a:r>
            <a:br>
              <a:rPr lang="en-IN" dirty="0"/>
            </a:br>
            <a:r>
              <a:rPr dirty="0"/>
              <a:t>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D0DDAC-4DAA-1CAE-C6F9-BFB040330FAC}"/>
              </a:ext>
            </a:extLst>
          </p:cNvPr>
          <p:cNvSpPr txBox="1"/>
          <p:nvPr/>
        </p:nvSpPr>
        <p:spPr>
          <a:xfrm>
            <a:off x="0" y="0"/>
            <a:ext cx="9144000" cy="6586418"/>
          </a:xfrm>
          <a:prstGeom prst="rect">
            <a:avLst/>
          </a:prstGeom>
          <a:noFill/>
        </p:spPr>
        <p:txBody>
          <a:bodyPr wrap="square">
            <a:spAutoFit/>
          </a:bodyPr>
          <a:lstStyle/>
          <a:p>
            <a:pPr algn="ct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Submitted in partial fulfillment of the requirements for the degree </a:t>
            </a:r>
          </a:p>
          <a:p>
            <a:pPr algn="ctr"/>
            <a:r>
              <a:rPr lang="en-US" sz="2000" dirty="0">
                <a:latin typeface="Times New Roman" pitchFamily="18" charset="0"/>
                <a:cs typeface="Times New Roman" pitchFamily="18" charset="0"/>
              </a:rPr>
              <a:t>of</a:t>
            </a:r>
          </a:p>
          <a:p>
            <a:pPr algn="ctr"/>
            <a:r>
              <a:rPr lang="en-US" sz="2000" dirty="0">
                <a:latin typeface="Times New Roman" pitchFamily="18" charset="0"/>
                <a:cs typeface="Times New Roman" pitchFamily="18" charset="0"/>
              </a:rPr>
              <a:t>BACHELOR OF TECHNOLOGY</a:t>
            </a:r>
            <a:r>
              <a:rPr lang="en-US" sz="2400" dirty="0">
                <a:latin typeface="Times New Roman" pitchFamily="18" charset="0"/>
                <a:cs typeface="Times New Roman" pitchFamily="18" charset="0"/>
              </a:rPr>
              <a:t> </a:t>
            </a:r>
          </a:p>
          <a:p>
            <a:pPr algn="ctr"/>
            <a:r>
              <a:rPr lang="en-US" sz="2400" dirty="0">
                <a:latin typeface="Times New Roman" pitchFamily="18" charset="0"/>
                <a:cs typeface="Times New Roman" pitchFamily="18" charset="0"/>
              </a:rPr>
              <a:t>in</a:t>
            </a:r>
          </a:p>
          <a:p>
            <a:pPr algn="ctr"/>
            <a:r>
              <a:rPr lang="en-US" sz="2000" b="1" dirty="0">
                <a:latin typeface="Times New Roman" pitchFamily="18" charset="0"/>
                <a:cs typeface="Times New Roman" pitchFamily="18" charset="0"/>
              </a:rPr>
              <a:t>COMPUTER SCIENCE AND ENGINEERING</a:t>
            </a:r>
          </a:p>
          <a:p>
            <a:pPr algn="ctr"/>
            <a:r>
              <a:rPr lang="en-US" sz="2000" b="1" dirty="0">
                <a:latin typeface="Times New Roman" pitchFamily="18" charset="0"/>
                <a:cs typeface="Times New Roman" pitchFamily="18" charset="0"/>
              </a:rPr>
              <a:t>by</a:t>
            </a:r>
            <a:r>
              <a:rPr lang="en-US" sz="2800" b="1" dirty="0">
                <a:latin typeface="Times New Roman" pitchFamily="18" charset="0"/>
                <a:cs typeface="Times New Roman" pitchFamily="18" charset="0"/>
              </a:rPr>
              <a:t> </a:t>
            </a:r>
          </a:p>
          <a:p>
            <a:pPr algn="ctr"/>
            <a:r>
              <a:rPr lang="en-US" dirty="0">
                <a:latin typeface="Times New Roman" panose="02020603050405020304" pitchFamily="18" charset="0"/>
                <a:cs typeface="Times New Roman" panose="02020603050405020304" pitchFamily="18" charset="0"/>
              </a:rPr>
              <a:t>D. NAVEEN				         22541A05B1</a:t>
            </a:r>
          </a:p>
          <a:p>
            <a:pPr algn="ctr"/>
            <a:r>
              <a:rPr lang="en-US" dirty="0">
                <a:latin typeface="Times New Roman" panose="02020603050405020304" pitchFamily="18" charset="0"/>
                <a:cs typeface="Times New Roman" panose="02020603050405020304" pitchFamily="18" charset="0"/>
              </a:rPr>
              <a:t>G. TEJASRI				         22541A0524</a:t>
            </a:r>
          </a:p>
          <a:p>
            <a:pPr algn="ctr"/>
            <a:r>
              <a:rPr lang="en-US" dirty="0">
                <a:latin typeface="Times New Roman" panose="02020603050405020304" pitchFamily="18" charset="0"/>
                <a:cs typeface="Times New Roman" panose="02020603050405020304" pitchFamily="18" charset="0"/>
              </a:rPr>
              <a:t>M. RUTHU			                 22541A0560</a:t>
            </a:r>
          </a:p>
          <a:p>
            <a:pPr algn="ctr"/>
            <a:r>
              <a:rPr lang="en-US" dirty="0">
                <a:latin typeface="Times New Roman" panose="02020603050405020304" pitchFamily="18" charset="0"/>
                <a:cs typeface="Times New Roman" panose="02020603050405020304" pitchFamily="18" charset="0"/>
              </a:rPr>
              <a:t>B. VISHNU VARDHAN        	 22541A05A4</a:t>
            </a:r>
          </a:p>
          <a:p>
            <a:pPr algn="ctr"/>
            <a:r>
              <a:rPr lang="en-US" dirty="0">
                <a:latin typeface="Times New Roman" panose="02020603050405020304" pitchFamily="18" charset="0"/>
                <a:cs typeface="Times New Roman" panose="02020603050405020304" pitchFamily="18" charset="0"/>
              </a:rPr>
              <a:t>S. MAHESH		      	                 22541A05E9</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	 </a:t>
            </a:r>
            <a:r>
              <a:rPr lang="en-US" sz="2400" b="1" dirty="0">
                <a:latin typeface="Times New Roman" pitchFamily="18" charset="0"/>
                <a:cs typeface="Times New Roman" pitchFamily="18" charset="0"/>
              </a:rPr>
              <a:t>Under the Supervision of</a:t>
            </a:r>
          </a:p>
          <a:p>
            <a:pPr algn="ctr"/>
            <a:r>
              <a:rPr lang="en-US" sz="2400" b="1" dirty="0">
                <a:latin typeface="Times New Roman" pitchFamily="18" charset="0"/>
                <a:cs typeface="Times New Roman" pitchFamily="18" charset="0"/>
              </a:rPr>
              <a:t>Mrs.	B.VASANTHI</a:t>
            </a:r>
          </a:p>
          <a:p>
            <a:pPr algn="ctr"/>
            <a:r>
              <a:rPr lang="en-US" sz="2400" b="1" dirty="0">
                <a:latin typeface="Times New Roman" pitchFamily="18" charset="0"/>
                <a:cs typeface="Times New Roman" pitchFamily="18" charset="0"/>
              </a:rPr>
              <a:t>Assistant Professor(M.Tech) </a:t>
            </a:r>
          </a:p>
          <a:p>
            <a:pPr algn="ctr"/>
            <a:endParaRPr lang="en-US" sz="2400" b="1"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Department of CSE,</a:t>
            </a:r>
          </a:p>
          <a:p>
            <a:pPr algn="ctr"/>
            <a:r>
              <a:rPr lang="en-US" sz="2000" b="1" dirty="0">
                <a:latin typeface="Times New Roman" pitchFamily="18" charset="0"/>
                <a:cs typeface="Times New Roman" pitchFamily="18" charset="0"/>
              </a:rPr>
              <a:t>SRI SARATHI INSTITUTE OF ENGINEERING AND TECHNOLOGY, </a:t>
            </a:r>
          </a:p>
          <a:p>
            <a:pPr algn="ctr"/>
            <a:r>
              <a:rPr lang="en-US" sz="2000" b="1" dirty="0">
                <a:latin typeface="Times New Roman" pitchFamily="18" charset="0"/>
                <a:cs typeface="Times New Roman" pitchFamily="18" charset="0"/>
              </a:rPr>
              <a:t>Nuzvid-521201, Krishna Dist. AP</a:t>
            </a:r>
          </a:p>
        </p:txBody>
      </p:sp>
    </p:spTree>
    <p:extLst>
      <p:ext uri="{BB962C8B-B14F-4D97-AF65-F5344CB8AC3E}">
        <p14:creationId xmlns:p14="http://schemas.microsoft.com/office/powerpoint/2010/main" val="4014185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E8E846-46E4-A561-B4C5-07A72B39432C}"/>
              </a:ext>
            </a:extLst>
          </p:cNvPr>
          <p:cNvSpPr txBox="1"/>
          <p:nvPr/>
        </p:nvSpPr>
        <p:spPr>
          <a:xfrm>
            <a:off x="703385" y="582195"/>
            <a:ext cx="8119068" cy="5970865"/>
          </a:xfrm>
          <a:prstGeom prst="rect">
            <a:avLst/>
          </a:prstGeom>
          <a:noFill/>
        </p:spPr>
        <p:txBody>
          <a:bodyPr wrap="square">
            <a:spAutoFit/>
          </a:bodyPr>
          <a:lstStyle/>
          <a:p>
            <a:pPr algn="ctr"/>
            <a:r>
              <a:rPr lang="en-IN" sz="2800" b="1" dirty="0"/>
              <a:t>CONTENTS   </a:t>
            </a:r>
          </a:p>
          <a:p>
            <a:endParaRPr lang="en-IN" b="1" dirty="0"/>
          </a:p>
          <a:p>
            <a:pPr marL="285750" indent="-285750">
              <a:buFont typeface="Arial" panose="020B0604020202020204" pitchFamily="34" charset="0"/>
              <a:buChar char="•"/>
            </a:pPr>
            <a:r>
              <a:rPr lang="en-IN" sz="2400" dirty="0"/>
              <a:t>Abstract  </a:t>
            </a:r>
          </a:p>
          <a:p>
            <a:pPr marL="285750" indent="-285750">
              <a:buFont typeface="Arial" panose="020B0604020202020204" pitchFamily="34" charset="0"/>
              <a:buChar char="•"/>
            </a:pPr>
            <a:r>
              <a:rPr lang="en-IN" sz="2400" dirty="0"/>
              <a:t>Existing system </a:t>
            </a:r>
          </a:p>
          <a:p>
            <a:pPr marL="285750" indent="-285750">
              <a:buFont typeface="Arial" panose="020B0604020202020204" pitchFamily="34" charset="0"/>
              <a:buChar char="•"/>
            </a:pPr>
            <a:r>
              <a:rPr lang="en-IN" sz="2400" dirty="0"/>
              <a:t>Existing System Limitations</a:t>
            </a:r>
          </a:p>
          <a:p>
            <a:pPr marL="285750" indent="-285750">
              <a:buFont typeface="Arial" panose="020B0604020202020204" pitchFamily="34" charset="0"/>
              <a:buChar char="•"/>
            </a:pPr>
            <a:r>
              <a:rPr lang="en-IN" sz="2400" dirty="0"/>
              <a:t>Proposed system</a:t>
            </a:r>
          </a:p>
          <a:p>
            <a:pPr marL="285750" indent="-285750">
              <a:buFont typeface="Arial" panose="020B0604020202020204" pitchFamily="34" charset="0"/>
              <a:buChar char="•"/>
            </a:pPr>
            <a:r>
              <a:rPr lang="en-IN" sz="2400" dirty="0"/>
              <a:t>Proposed system Advantages</a:t>
            </a:r>
          </a:p>
          <a:p>
            <a:pPr marL="285750" indent="-285750">
              <a:buFont typeface="Arial" panose="020B0604020202020204" pitchFamily="34" charset="0"/>
              <a:buChar char="•"/>
            </a:pPr>
            <a:r>
              <a:rPr lang="en-IN" sz="2400" dirty="0"/>
              <a:t>Software requirements</a:t>
            </a:r>
          </a:p>
          <a:p>
            <a:pPr marL="285750" indent="-285750">
              <a:buFont typeface="Arial" panose="020B0604020202020204" pitchFamily="34" charset="0"/>
              <a:buChar char="•"/>
            </a:pPr>
            <a:r>
              <a:rPr lang="en-IN" sz="2400" dirty="0"/>
              <a:t>Hardware requirements </a:t>
            </a:r>
          </a:p>
          <a:p>
            <a:pPr marL="285750" indent="-285750">
              <a:buFont typeface="Arial" panose="020B0604020202020204" pitchFamily="34" charset="0"/>
              <a:buChar char="•"/>
            </a:pPr>
            <a:r>
              <a:rPr lang="en-IN" sz="2400" dirty="0"/>
              <a:t>ML Models </a:t>
            </a:r>
          </a:p>
          <a:p>
            <a:pPr marL="285750" indent="-285750">
              <a:buFont typeface="Arial" panose="020B0604020202020204" pitchFamily="34" charset="0"/>
              <a:buChar char="•"/>
            </a:pPr>
            <a:r>
              <a:rPr lang="en-IN" sz="2400" dirty="0"/>
              <a:t>Architecture</a:t>
            </a:r>
          </a:p>
          <a:p>
            <a:pPr marL="285750" indent="-285750">
              <a:buFont typeface="Arial" panose="020B0604020202020204" pitchFamily="34" charset="0"/>
              <a:buChar char="•"/>
            </a:pPr>
            <a:r>
              <a:rPr lang="en-IN" sz="2400" dirty="0"/>
              <a:t>Dataflow Diagram</a:t>
            </a:r>
          </a:p>
          <a:p>
            <a:pPr marL="285750" indent="-285750">
              <a:buFont typeface="Arial" panose="020B0604020202020204" pitchFamily="34" charset="0"/>
              <a:buChar char="•"/>
            </a:pPr>
            <a:r>
              <a:rPr lang="en-IN" sz="2400" dirty="0"/>
              <a:t>UML diagrams  </a:t>
            </a:r>
          </a:p>
          <a:p>
            <a:pPr marL="285750" indent="-285750">
              <a:buFont typeface="Arial" panose="020B0604020202020204" pitchFamily="34" charset="0"/>
              <a:buChar char="•"/>
            </a:pPr>
            <a:r>
              <a:rPr lang="en-IN" sz="2400" dirty="0"/>
              <a:t>Sample screens</a:t>
            </a:r>
          </a:p>
          <a:p>
            <a:pPr marL="285750" indent="-285750">
              <a:buFont typeface="Arial" panose="020B0604020202020204" pitchFamily="34" charset="0"/>
              <a:buChar char="•"/>
            </a:pPr>
            <a:r>
              <a:rPr lang="en-IN" sz="2400" dirty="0"/>
              <a:t>Conclusion</a:t>
            </a:r>
          </a:p>
          <a:p>
            <a:pPr marL="285750" indent="-285750">
              <a:buFont typeface="Arial" panose="020B0604020202020204" pitchFamily="34" charset="0"/>
              <a:buChar char="•"/>
            </a:pPr>
            <a:r>
              <a:rPr lang="en-IN" sz="2400" dirty="0"/>
              <a:t>Future enhancement</a:t>
            </a:r>
          </a:p>
        </p:txBody>
      </p:sp>
    </p:spTree>
    <p:extLst>
      <p:ext uri="{BB962C8B-B14F-4D97-AF65-F5344CB8AC3E}">
        <p14:creationId xmlns:p14="http://schemas.microsoft.com/office/powerpoint/2010/main" val="3521291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Abstract</a:t>
            </a:r>
          </a:p>
        </p:txBody>
      </p:sp>
      <p:sp>
        <p:nvSpPr>
          <p:cNvPr id="3" name="Content Placeholder 2"/>
          <p:cNvSpPr>
            <a:spLocks noGrp="1"/>
          </p:cNvSpPr>
          <p:nvPr>
            <p:ph idx="1"/>
          </p:nvPr>
        </p:nvSpPr>
        <p:spPr>
          <a:xfrm>
            <a:off x="457200" y="1584960"/>
            <a:ext cx="8229600" cy="4541204"/>
          </a:xfrm>
        </p:spPr>
        <p:txBody>
          <a:bodyPr>
            <a:normAutofit/>
          </a:bodyPr>
          <a:lstStyle/>
          <a:p>
            <a:pPr marL="0" indent="0" algn="just">
              <a:buNone/>
            </a:pPr>
            <a:r>
              <a:rPr lang="en-US" dirty="0"/>
              <a:t>Phishing emails are a major cybersecurity threat that target sensitive user data. This project develops an intelligent detection system using Machine Learning techniques. It analyzes email content, headers, and URLs to detect suspicious patterns. The system classifies emails as phishing or legitimate in real time to improve email security.</a:t>
            </a:r>
          </a:p>
          <a:p>
            <a:pPr marL="0" indent="0">
              <a:buNone/>
            </a:pP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Existing System</a:t>
            </a:r>
          </a:p>
        </p:txBody>
      </p:sp>
      <p:sp>
        <p:nvSpPr>
          <p:cNvPr id="3" name="Content Placeholder 2"/>
          <p:cNvSpPr>
            <a:spLocks noGrp="1"/>
          </p:cNvSpPr>
          <p:nvPr>
            <p:ph idx="1"/>
          </p:nvPr>
        </p:nvSpPr>
        <p:spPr/>
        <p:txBody>
          <a:bodyPr>
            <a:normAutofit/>
          </a:bodyPr>
          <a:lstStyle/>
          <a:p>
            <a:pPr marL="0" indent="0" algn="just">
              <a:buNone/>
            </a:pPr>
            <a:r>
              <a:rPr lang="en-US" dirty="0"/>
              <a:t>Traditional email security methods include keyword-based spam filters that detect suspicious words commonly used in spam messages. Another method is blacklist-based blocking, where known malicious senders and URLs are automatically prevented from reaching users. Organizations also rely on manually created rules defined by administrators to filter unwanted emails.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Limitations of Existing System</a:t>
            </a:r>
          </a:p>
        </p:txBody>
      </p:sp>
      <p:sp>
        <p:nvSpPr>
          <p:cNvPr id="3" name="Content Placeholder 2"/>
          <p:cNvSpPr>
            <a:spLocks noGrp="1"/>
          </p:cNvSpPr>
          <p:nvPr>
            <p:ph idx="1"/>
          </p:nvPr>
        </p:nvSpPr>
        <p:spPr/>
        <p:txBody>
          <a:bodyPr/>
          <a:lstStyle/>
          <a:p>
            <a:endParaRPr dirty="0"/>
          </a:p>
          <a:p>
            <a:r>
              <a:rPr dirty="0"/>
              <a:t>Cannot detect new phishing patterns.</a:t>
            </a:r>
          </a:p>
          <a:p>
            <a:r>
              <a:rPr dirty="0"/>
              <a:t>High false positive and false negative rates.</a:t>
            </a:r>
          </a:p>
          <a:p>
            <a:r>
              <a:rPr dirty="0"/>
              <a:t>Requires frequent manual updates.</a:t>
            </a:r>
          </a:p>
          <a:p>
            <a:r>
              <a:rPr dirty="0"/>
              <a:t>Limited intelligence and adaptability.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Proposed System</a:t>
            </a:r>
          </a:p>
        </p:txBody>
      </p:sp>
      <p:sp>
        <p:nvSpPr>
          <p:cNvPr id="4" name="Rectangle 1">
            <a:extLst>
              <a:ext uri="{FF2B5EF4-FFF2-40B4-BE49-F238E27FC236}">
                <a16:creationId xmlns:a16="http://schemas.microsoft.com/office/drawing/2014/main" id="{8D634BF6-6733-9003-6A65-12695012B25D}"/>
              </a:ext>
            </a:extLst>
          </p:cNvPr>
          <p:cNvSpPr>
            <a:spLocks noGrp="1" noChangeArrowheads="1"/>
          </p:cNvSpPr>
          <p:nvPr>
            <p:ph idx="1"/>
          </p:nvPr>
        </p:nvSpPr>
        <p:spPr bwMode="auto">
          <a:xfrm>
            <a:off x="528320" y="1675003"/>
            <a:ext cx="815848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Machine learning–based intelligent detection is used to accurately identify phishing emails by learning patterns from data. The system performs automated feature extraction and model training to improve detection efficiency without manual intervention. It enables real-time phishing classification, ensuring quick and reliable identification of malicious emails.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Advantages</a:t>
            </a:r>
          </a:p>
        </p:txBody>
      </p:sp>
      <p:sp>
        <p:nvSpPr>
          <p:cNvPr id="3" name="Content Placeholder 2"/>
          <p:cNvSpPr>
            <a:spLocks noGrp="1"/>
          </p:cNvSpPr>
          <p:nvPr>
            <p:ph idx="1"/>
          </p:nvPr>
        </p:nvSpPr>
        <p:spPr/>
        <p:txBody>
          <a:bodyPr/>
          <a:lstStyle/>
          <a:p>
            <a:endParaRPr dirty="0"/>
          </a:p>
          <a:p>
            <a:pPr algn="just"/>
            <a:r>
              <a:rPr dirty="0"/>
              <a:t>High detection accuracy.</a:t>
            </a:r>
          </a:p>
          <a:p>
            <a:pPr algn="just"/>
            <a:r>
              <a:rPr dirty="0"/>
              <a:t>Fast and automated processing.</a:t>
            </a:r>
          </a:p>
          <a:p>
            <a:pPr algn="just"/>
            <a:r>
              <a:rPr dirty="0"/>
              <a:t>Adapts to evolving phishing techniques.</a:t>
            </a:r>
          </a:p>
          <a:p>
            <a:pPr algn="just"/>
            <a:r>
              <a:rPr dirty="0"/>
              <a:t>Reduces human effort and security risks.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Software Requirements</a:t>
            </a:r>
          </a:p>
        </p:txBody>
      </p:sp>
      <p:sp>
        <p:nvSpPr>
          <p:cNvPr id="3" name="Content Placeholder 2"/>
          <p:cNvSpPr>
            <a:spLocks noGrp="1"/>
          </p:cNvSpPr>
          <p:nvPr>
            <p:ph idx="1"/>
          </p:nvPr>
        </p:nvSpPr>
        <p:spPr>
          <a:xfrm>
            <a:off x="457200" y="1249328"/>
            <a:ext cx="8229600" cy="4525963"/>
          </a:xfrm>
        </p:spPr>
        <p:txBody>
          <a:bodyPr/>
          <a:lstStyle/>
          <a:p>
            <a:pPr marL="0" indent="0">
              <a:buNone/>
            </a:pPr>
            <a:endParaRPr dirty="0"/>
          </a:p>
          <a:p>
            <a:pPr algn="just"/>
            <a:r>
              <a:rPr dirty="0"/>
              <a:t>Language: Python</a:t>
            </a:r>
          </a:p>
          <a:p>
            <a:pPr algn="just"/>
            <a:r>
              <a:rPr dirty="0"/>
              <a:t>Libraries: Scikit-learn, Pandas, NumPy, NLTK</a:t>
            </a:r>
          </a:p>
          <a:p>
            <a:pPr algn="just"/>
            <a:r>
              <a:rPr dirty="0"/>
              <a:t>Frontend: HTML, CSS, JavaScript</a:t>
            </a:r>
          </a:p>
          <a:p>
            <a:pPr algn="just"/>
            <a:r>
              <a:rPr dirty="0"/>
              <a:t>Framework: Django</a:t>
            </a:r>
          </a:p>
          <a:p>
            <a:pPr algn="just"/>
            <a:r>
              <a:rPr dirty="0"/>
              <a:t>Database: MySQL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Hardware Requirements</a:t>
            </a:r>
          </a:p>
        </p:txBody>
      </p:sp>
      <p:sp>
        <p:nvSpPr>
          <p:cNvPr id="3" name="Content Placeholder 2"/>
          <p:cNvSpPr>
            <a:spLocks noGrp="1"/>
          </p:cNvSpPr>
          <p:nvPr>
            <p:ph idx="1"/>
          </p:nvPr>
        </p:nvSpPr>
        <p:spPr/>
        <p:txBody>
          <a:bodyPr/>
          <a:lstStyle/>
          <a:p>
            <a:endParaRPr dirty="0"/>
          </a:p>
          <a:p>
            <a:r>
              <a:rPr dirty="0"/>
              <a:t>Processor: </a:t>
            </a:r>
            <a:r>
              <a:rPr lang="en-IN" dirty="0"/>
              <a:t>Ryzen 3, </a:t>
            </a:r>
            <a:r>
              <a:rPr dirty="0"/>
              <a:t>Intel </a:t>
            </a:r>
            <a:r>
              <a:rPr dirty="0" err="1"/>
              <a:t>i</a:t>
            </a:r>
            <a:r>
              <a:rPr lang="en-IN" dirty="0"/>
              <a:t>3 or above</a:t>
            </a:r>
            <a:endParaRPr dirty="0"/>
          </a:p>
          <a:p>
            <a:r>
              <a:rPr dirty="0"/>
              <a:t>RAM: Minimum </a:t>
            </a:r>
            <a:r>
              <a:rPr lang="en-IN" dirty="0"/>
              <a:t>4</a:t>
            </a:r>
            <a:r>
              <a:rPr dirty="0"/>
              <a:t> GB</a:t>
            </a:r>
          </a:p>
          <a:p>
            <a:r>
              <a:rPr dirty="0"/>
              <a:t>Storage: </a:t>
            </a:r>
            <a:r>
              <a:rPr lang="en-IN" dirty="0"/>
              <a:t>256</a:t>
            </a:r>
            <a:r>
              <a:rPr dirty="0"/>
              <a:t> GB or higher</a:t>
            </a:r>
          </a:p>
          <a:p>
            <a:r>
              <a:rPr dirty="0"/>
              <a:t>OS: Windows</a:t>
            </a:r>
            <a:r>
              <a:rPr lang="en-IN" dirty="0"/>
              <a:t> / Linux / macOS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Machine Learning Models </a:t>
            </a:r>
          </a:p>
        </p:txBody>
      </p:sp>
      <p:sp>
        <p:nvSpPr>
          <p:cNvPr id="3" name="Content Placeholder 2"/>
          <p:cNvSpPr>
            <a:spLocks noGrp="1"/>
          </p:cNvSpPr>
          <p:nvPr>
            <p:ph idx="1"/>
          </p:nvPr>
        </p:nvSpPr>
        <p:spPr/>
        <p:txBody>
          <a:bodyPr/>
          <a:lstStyle/>
          <a:p>
            <a:endParaRPr dirty="0"/>
          </a:p>
          <a:p>
            <a:r>
              <a:rPr dirty="0"/>
              <a:t>Logistic Regression</a:t>
            </a:r>
          </a:p>
          <a:p>
            <a:r>
              <a:rPr dirty="0"/>
              <a:t>Na</a:t>
            </a:r>
            <a:r>
              <a:rPr lang="en-IN" dirty="0" err="1"/>
              <a:t>ive</a:t>
            </a:r>
            <a:r>
              <a:rPr dirty="0"/>
              <a:t> Bayes Classifier</a:t>
            </a:r>
          </a:p>
          <a:p>
            <a:r>
              <a:rPr dirty="0"/>
              <a:t>Support Vector Machine (SVM)</a:t>
            </a:r>
          </a:p>
          <a:p>
            <a:r>
              <a:rPr dirty="0"/>
              <a:t>Random Forest Classifier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044"/>
            <a:ext cx="8229600" cy="1143000"/>
          </a:xfrm>
        </p:spPr>
        <p:txBody>
          <a:bodyPr>
            <a:normAutofit/>
          </a:bodyPr>
          <a:lstStyle/>
          <a:p>
            <a:r>
              <a:rPr sz="4000" dirty="0"/>
              <a:t>System Architecture</a:t>
            </a:r>
          </a:p>
        </p:txBody>
      </p:sp>
      <p:sp>
        <p:nvSpPr>
          <p:cNvPr id="3" name="Content Placeholder 2"/>
          <p:cNvSpPr>
            <a:spLocks noGrp="1"/>
          </p:cNvSpPr>
          <p:nvPr>
            <p:ph idx="1"/>
          </p:nvPr>
        </p:nvSpPr>
        <p:spPr>
          <a:xfrm>
            <a:off x="457200" y="1417638"/>
            <a:ext cx="8229600" cy="4708525"/>
          </a:xfrm>
        </p:spPr>
        <p:txBody>
          <a:bodyPr>
            <a:normAutofit/>
          </a:bodyPr>
          <a:lstStyle/>
          <a:p>
            <a:endParaRPr dirty="0"/>
          </a:p>
          <a:p>
            <a:pPr marL="0" indent="0">
              <a:buNone/>
            </a:pPr>
            <a:endParaRPr dirty="0"/>
          </a:p>
        </p:txBody>
      </p:sp>
      <p:pic>
        <p:nvPicPr>
          <p:cNvPr id="6" name="Picture 5">
            <a:extLst>
              <a:ext uri="{FF2B5EF4-FFF2-40B4-BE49-F238E27FC236}">
                <a16:creationId xmlns:a16="http://schemas.microsoft.com/office/drawing/2014/main" id="{ABB2D4C7-920C-9EE5-31F2-0D978FAF373F}"/>
              </a:ext>
            </a:extLst>
          </p:cNvPr>
          <p:cNvPicPr>
            <a:picLocks noChangeAspect="1"/>
          </p:cNvPicPr>
          <p:nvPr/>
        </p:nvPicPr>
        <p:blipFill>
          <a:blip r:embed="rId2"/>
          <a:stretch>
            <a:fillRect/>
          </a:stretch>
        </p:blipFill>
        <p:spPr>
          <a:xfrm>
            <a:off x="1452127" y="1114956"/>
            <a:ext cx="6239746" cy="54562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t>Data Flow Diagram (DFD)</a:t>
            </a:r>
          </a:p>
        </p:txBody>
      </p:sp>
      <p:sp>
        <p:nvSpPr>
          <p:cNvPr id="3" name="Rounded Rectangle 2"/>
          <p:cNvSpPr/>
          <p:nvPr/>
        </p:nvSpPr>
        <p:spPr>
          <a:xfrm>
            <a:off x="206996" y="2027507"/>
            <a:ext cx="1828800" cy="822960"/>
          </a:xfrm>
          <a:prstGeom prst="roundRect">
            <a:avLst/>
          </a:prstGeom>
          <a:solidFill>
            <a:srgbClr val="EBEB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Email Input</a:t>
            </a:r>
          </a:p>
        </p:txBody>
      </p:sp>
      <p:sp>
        <p:nvSpPr>
          <p:cNvPr id="4" name="Rounded Rectangle 3"/>
          <p:cNvSpPr/>
          <p:nvPr/>
        </p:nvSpPr>
        <p:spPr>
          <a:xfrm>
            <a:off x="2492996" y="2024745"/>
            <a:ext cx="1828800" cy="822960"/>
          </a:xfrm>
          <a:prstGeom prst="roundRect">
            <a:avLst/>
          </a:prstGeom>
          <a:solidFill>
            <a:srgbClr val="EBEB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Preprocessing</a:t>
            </a:r>
          </a:p>
        </p:txBody>
      </p:sp>
      <p:sp>
        <p:nvSpPr>
          <p:cNvPr id="5" name="Right Arrow 4"/>
          <p:cNvSpPr/>
          <p:nvPr/>
        </p:nvSpPr>
        <p:spPr>
          <a:xfrm>
            <a:off x="2035796" y="2164667"/>
            <a:ext cx="45720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778996" y="2052444"/>
            <a:ext cx="1828800" cy="822960"/>
          </a:xfrm>
          <a:prstGeom prst="roundRect">
            <a:avLst/>
          </a:prstGeom>
          <a:solidFill>
            <a:srgbClr val="EBEB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Feature Extraction</a:t>
            </a:r>
          </a:p>
        </p:txBody>
      </p:sp>
      <p:sp>
        <p:nvSpPr>
          <p:cNvPr id="7" name="Right Arrow 6"/>
          <p:cNvSpPr/>
          <p:nvPr/>
        </p:nvSpPr>
        <p:spPr>
          <a:xfrm>
            <a:off x="4321796" y="2164667"/>
            <a:ext cx="45720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7064996" y="2027507"/>
            <a:ext cx="1828800" cy="822960"/>
          </a:xfrm>
          <a:prstGeom prst="roundRect">
            <a:avLst/>
          </a:prstGeom>
          <a:solidFill>
            <a:srgbClr val="EBEB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Model Training</a:t>
            </a:r>
          </a:p>
        </p:txBody>
      </p:sp>
      <p:sp>
        <p:nvSpPr>
          <p:cNvPr id="9" name="Right Arrow 8"/>
          <p:cNvSpPr/>
          <p:nvPr/>
        </p:nvSpPr>
        <p:spPr>
          <a:xfrm>
            <a:off x="6607796" y="2164667"/>
            <a:ext cx="45720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21596" y="3749041"/>
            <a:ext cx="1828800" cy="822960"/>
          </a:xfrm>
          <a:prstGeom prst="roundRect">
            <a:avLst/>
          </a:prstGeom>
          <a:solidFill>
            <a:srgbClr val="EBEB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Classification</a:t>
            </a:r>
          </a:p>
        </p:txBody>
      </p:sp>
      <p:sp>
        <p:nvSpPr>
          <p:cNvPr id="11" name="Right Arrow 10"/>
          <p:cNvSpPr/>
          <p:nvPr/>
        </p:nvSpPr>
        <p:spPr>
          <a:xfrm>
            <a:off x="2255353" y="3896753"/>
            <a:ext cx="45720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596" y="3759593"/>
            <a:ext cx="1828800" cy="822960"/>
          </a:xfrm>
          <a:prstGeom prst="roundRect">
            <a:avLst/>
          </a:prstGeom>
          <a:solidFill>
            <a:srgbClr val="EBEB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Result</a:t>
            </a:r>
          </a:p>
        </p:txBody>
      </p:sp>
      <p:sp>
        <p:nvSpPr>
          <p:cNvPr id="13" name="Right Arrow 12"/>
          <p:cNvSpPr/>
          <p:nvPr/>
        </p:nvSpPr>
        <p:spPr>
          <a:xfrm>
            <a:off x="4550396" y="3886201"/>
            <a:ext cx="45720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D5E100-BB5D-FCDD-1474-890664589ED4}"/>
              </a:ext>
            </a:extLst>
          </p:cNvPr>
          <p:cNvSpPr txBox="1"/>
          <p:nvPr/>
        </p:nvSpPr>
        <p:spPr>
          <a:xfrm>
            <a:off x="1434402" y="319892"/>
            <a:ext cx="6275196" cy="707886"/>
          </a:xfrm>
          <a:prstGeom prst="rect">
            <a:avLst/>
          </a:prstGeom>
          <a:noFill/>
        </p:spPr>
        <p:txBody>
          <a:bodyPr wrap="square">
            <a:spAutoFit/>
          </a:bodyPr>
          <a:lstStyle/>
          <a:p>
            <a:pPr algn="ctr"/>
            <a:r>
              <a:rPr lang="en-IN" sz="4000" dirty="0">
                <a:latin typeface="+mj-lt"/>
              </a:rPr>
              <a:t>UML Diagrams</a:t>
            </a:r>
          </a:p>
        </p:txBody>
      </p:sp>
      <p:pic>
        <p:nvPicPr>
          <p:cNvPr id="4" name="Picture 3">
            <a:extLst>
              <a:ext uri="{FF2B5EF4-FFF2-40B4-BE49-F238E27FC236}">
                <a16:creationId xmlns:a16="http://schemas.microsoft.com/office/drawing/2014/main" id="{45F15161-29AE-C064-E5CC-7F910234EDEB}"/>
              </a:ext>
            </a:extLst>
          </p:cNvPr>
          <p:cNvPicPr>
            <a:picLocks noChangeAspect="1"/>
          </p:cNvPicPr>
          <p:nvPr/>
        </p:nvPicPr>
        <p:blipFill>
          <a:blip r:embed="rId2"/>
          <a:stretch>
            <a:fillRect/>
          </a:stretch>
        </p:blipFill>
        <p:spPr>
          <a:xfrm>
            <a:off x="864158" y="1089333"/>
            <a:ext cx="7295104" cy="5341612"/>
          </a:xfrm>
          <a:prstGeom prst="rect">
            <a:avLst/>
          </a:prstGeom>
        </p:spPr>
      </p:pic>
    </p:spTree>
    <p:extLst>
      <p:ext uri="{BB962C8B-B14F-4D97-AF65-F5344CB8AC3E}">
        <p14:creationId xmlns:p14="http://schemas.microsoft.com/office/powerpoint/2010/main" val="4048310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2E4F9-16DD-7CC5-7D36-9A383D37D017}"/>
              </a:ext>
            </a:extLst>
          </p:cNvPr>
          <p:cNvSpPr>
            <a:spLocks noGrp="1"/>
          </p:cNvSpPr>
          <p:nvPr>
            <p:ph type="title"/>
          </p:nvPr>
        </p:nvSpPr>
        <p:spPr>
          <a:xfrm>
            <a:off x="457200" y="-160774"/>
            <a:ext cx="8229600" cy="1779379"/>
          </a:xfrm>
        </p:spPr>
        <p:txBody>
          <a:bodyPr>
            <a:normAutofit/>
          </a:bodyPr>
          <a:lstStyle/>
          <a:p>
            <a:r>
              <a:rPr lang="en-IN" sz="4000" dirty="0"/>
              <a:t>Sample Screens</a:t>
            </a:r>
          </a:p>
        </p:txBody>
      </p:sp>
      <p:pic>
        <p:nvPicPr>
          <p:cNvPr id="6" name="Picture 5">
            <a:extLst>
              <a:ext uri="{FF2B5EF4-FFF2-40B4-BE49-F238E27FC236}">
                <a16:creationId xmlns:a16="http://schemas.microsoft.com/office/drawing/2014/main" id="{AA7A78FC-83EE-38F4-9D1B-BC7CA422AE1A}"/>
              </a:ext>
            </a:extLst>
          </p:cNvPr>
          <p:cNvPicPr>
            <a:picLocks noChangeAspect="1"/>
          </p:cNvPicPr>
          <p:nvPr/>
        </p:nvPicPr>
        <p:blipFill>
          <a:blip r:embed="rId2"/>
          <a:stretch>
            <a:fillRect/>
          </a:stretch>
        </p:blipFill>
        <p:spPr>
          <a:xfrm>
            <a:off x="150725" y="1487118"/>
            <a:ext cx="8882744" cy="4863440"/>
          </a:xfrm>
          <a:prstGeom prst="rect">
            <a:avLst/>
          </a:prstGeom>
        </p:spPr>
      </p:pic>
    </p:spTree>
    <p:extLst>
      <p:ext uri="{BB962C8B-B14F-4D97-AF65-F5344CB8AC3E}">
        <p14:creationId xmlns:p14="http://schemas.microsoft.com/office/powerpoint/2010/main" val="1875653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315EE7-1F99-A776-8BE9-986E626DCEF9}"/>
              </a:ext>
            </a:extLst>
          </p:cNvPr>
          <p:cNvPicPr>
            <a:picLocks noChangeAspect="1"/>
          </p:cNvPicPr>
          <p:nvPr/>
        </p:nvPicPr>
        <p:blipFill>
          <a:blip r:embed="rId2"/>
          <a:stretch>
            <a:fillRect/>
          </a:stretch>
        </p:blipFill>
        <p:spPr>
          <a:xfrm>
            <a:off x="301451" y="312382"/>
            <a:ext cx="8561196" cy="2872945"/>
          </a:xfrm>
          <a:prstGeom prst="rect">
            <a:avLst/>
          </a:prstGeom>
        </p:spPr>
      </p:pic>
      <p:pic>
        <p:nvPicPr>
          <p:cNvPr id="5" name="Picture 4">
            <a:extLst>
              <a:ext uri="{FF2B5EF4-FFF2-40B4-BE49-F238E27FC236}">
                <a16:creationId xmlns:a16="http://schemas.microsoft.com/office/drawing/2014/main" id="{9EEA5785-0524-81E5-0623-B9A0502551D5}"/>
              </a:ext>
            </a:extLst>
          </p:cNvPr>
          <p:cNvPicPr>
            <a:picLocks noChangeAspect="1"/>
          </p:cNvPicPr>
          <p:nvPr/>
        </p:nvPicPr>
        <p:blipFill>
          <a:blip r:embed="rId3"/>
          <a:stretch>
            <a:fillRect/>
          </a:stretch>
        </p:blipFill>
        <p:spPr>
          <a:xfrm>
            <a:off x="291402" y="3346100"/>
            <a:ext cx="8561196" cy="3511899"/>
          </a:xfrm>
          <a:prstGeom prst="rect">
            <a:avLst/>
          </a:prstGeom>
        </p:spPr>
      </p:pic>
    </p:spTree>
    <p:extLst>
      <p:ext uri="{BB962C8B-B14F-4D97-AF65-F5344CB8AC3E}">
        <p14:creationId xmlns:p14="http://schemas.microsoft.com/office/powerpoint/2010/main" val="533210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E62441-F3EC-7EEF-5F3E-921BA9CC3470}"/>
              </a:ext>
            </a:extLst>
          </p:cNvPr>
          <p:cNvPicPr>
            <a:picLocks noChangeAspect="1"/>
          </p:cNvPicPr>
          <p:nvPr/>
        </p:nvPicPr>
        <p:blipFill>
          <a:blip r:embed="rId2"/>
          <a:stretch>
            <a:fillRect/>
          </a:stretch>
        </p:blipFill>
        <p:spPr>
          <a:xfrm>
            <a:off x="125604" y="512467"/>
            <a:ext cx="8892792" cy="5978768"/>
          </a:xfrm>
          <a:prstGeom prst="rect">
            <a:avLst/>
          </a:prstGeom>
        </p:spPr>
      </p:pic>
    </p:spTree>
    <p:extLst>
      <p:ext uri="{BB962C8B-B14F-4D97-AF65-F5344CB8AC3E}">
        <p14:creationId xmlns:p14="http://schemas.microsoft.com/office/powerpoint/2010/main" val="1836571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a:t>
            </a:r>
            <a:r>
              <a:rPr sz="4000" dirty="0"/>
              <a:t>Conclusion</a:t>
            </a:r>
          </a:p>
        </p:txBody>
      </p:sp>
      <p:sp>
        <p:nvSpPr>
          <p:cNvPr id="3" name="Content Placeholder 2"/>
          <p:cNvSpPr>
            <a:spLocks noGrp="1"/>
          </p:cNvSpPr>
          <p:nvPr>
            <p:ph idx="1"/>
          </p:nvPr>
        </p:nvSpPr>
        <p:spPr>
          <a:xfrm>
            <a:off x="457200" y="1417638"/>
            <a:ext cx="8229600" cy="4525963"/>
          </a:xfrm>
        </p:spPr>
        <p:txBody>
          <a:bodyPr/>
          <a:lstStyle/>
          <a:p>
            <a:endParaRPr dirty="0"/>
          </a:p>
          <a:p>
            <a:r>
              <a:rPr dirty="0"/>
              <a:t>ML models successfully detect phishing emails with high accuracy.</a:t>
            </a:r>
          </a:p>
          <a:p>
            <a:r>
              <a:rPr dirty="0"/>
              <a:t>System provides reliable real-time threat detection.</a:t>
            </a:r>
          </a:p>
          <a:p>
            <a:r>
              <a:rPr dirty="0"/>
              <a:t>Improves cybersecurity awareness and protection.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Future Enhancements</a:t>
            </a:r>
          </a:p>
        </p:txBody>
      </p:sp>
      <p:sp>
        <p:nvSpPr>
          <p:cNvPr id="3" name="Content Placeholder 2"/>
          <p:cNvSpPr>
            <a:spLocks noGrp="1"/>
          </p:cNvSpPr>
          <p:nvPr>
            <p:ph idx="1"/>
          </p:nvPr>
        </p:nvSpPr>
        <p:spPr/>
        <p:txBody>
          <a:bodyPr/>
          <a:lstStyle/>
          <a:p>
            <a:endParaRPr dirty="0"/>
          </a:p>
          <a:p>
            <a:r>
              <a:rPr dirty="0"/>
              <a:t>Deep Learning–</a:t>
            </a:r>
            <a:r>
              <a:rPr lang="en-IN" dirty="0"/>
              <a:t> </a:t>
            </a:r>
            <a:r>
              <a:rPr dirty="0"/>
              <a:t>based advanced models.</a:t>
            </a:r>
          </a:p>
          <a:p>
            <a:r>
              <a:rPr dirty="0"/>
              <a:t>Integration with enterprise mail servers.</a:t>
            </a:r>
          </a:p>
          <a:p>
            <a:r>
              <a:rPr dirty="0"/>
              <a:t>Browser extension for real-time protection.</a:t>
            </a:r>
          </a:p>
          <a:p>
            <a:r>
              <a:rPr dirty="0"/>
              <a:t>Multilingual phishing detection support.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85B57-CB74-3980-1EA5-72B1B6755D75}"/>
              </a:ext>
            </a:extLst>
          </p:cNvPr>
          <p:cNvSpPr>
            <a:spLocks noGrp="1"/>
          </p:cNvSpPr>
          <p:nvPr>
            <p:ph type="title"/>
          </p:nvPr>
        </p:nvSpPr>
        <p:spPr>
          <a:xfrm>
            <a:off x="457200" y="2525469"/>
            <a:ext cx="8229600" cy="1143000"/>
          </a:xfrm>
        </p:spPr>
        <p:txBody>
          <a:bodyPr/>
          <a:lstStyle/>
          <a:p>
            <a:r>
              <a:rPr lang="en-IN" dirty="0"/>
              <a:t>Thank You</a:t>
            </a:r>
          </a:p>
        </p:txBody>
      </p:sp>
    </p:spTree>
    <p:extLst>
      <p:ext uri="{BB962C8B-B14F-4D97-AF65-F5344CB8AC3E}">
        <p14:creationId xmlns:p14="http://schemas.microsoft.com/office/powerpoint/2010/main" val="211603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483</TotalTime>
  <Words>499</Words>
  <Application>Microsoft Office PowerPoint</Application>
  <PresentationFormat>On-screen Show (4:3)</PresentationFormat>
  <Paragraphs>96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Efficient Email Phishing  Detection Using Machine  Learning</vt:lpstr>
      <vt:lpstr>PowerPoint Presentation</vt:lpstr>
      <vt:lpstr>PowerPoint Presentation</vt:lpstr>
      <vt:lpstr>Abstract</vt:lpstr>
      <vt:lpstr>Existing System</vt:lpstr>
      <vt:lpstr>Limitations of Existing System</vt:lpstr>
      <vt:lpstr>Proposed System</vt:lpstr>
      <vt:lpstr>Advantages</vt:lpstr>
      <vt:lpstr>Software Requirements</vt:lpstr>
      <vt:lpstr>Hardware Requirements</vt:lpstr>
      <vt:lpstr>Machine Learning Models </vt:lpstr>
      <vt:lpstr>System Architecture</vt:lpstr>
      <vt:lpstr>Data Flow Diagram (DFD)</vt:lpstr>
      <vt:lpstr>PowerPoint Presentation</vt:lpstr>
      <vt:lpstr>Sample Screens</vt:lpstr>
      <vt:lpstr>PowerPoint Presentation</vt:lpstr>
      <vt:lpstr>PowerPoint Presentation</vt:lpstr>
      <vt:lpstr> Conclusion</vt:lpstr>
      <vt:lpstr>Future Enhancements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Elisha Ayila</dc:creator>
  <cp:keywords/>
  <dc:description>generated using python-pptx</dc:description>
  <cp:lastModifiedBy>Elisha Ayila</cp:lastModifiedBy>
  <cp:revision>9</cp:revision>
  <dcterms:created xsi:type="dcterms:W3CDTF">2013-01-27T09:14:16Z</dcterms:created>
  <dcterms:modified xsi:type="dcterms:W3CDTF">2026-04-10T07:03:47Z</dcterms:modified>
  <cp:category/>
</cp:coreProperties>
</file>